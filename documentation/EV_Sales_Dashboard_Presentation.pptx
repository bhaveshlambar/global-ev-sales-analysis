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92" d="100"/>
          <a:sy n="92" d="100"/>
        </p:scale>
        <p:origin x="24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4645D-BE56-3C8F-78E8-6654085AF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7076" y="2404534"/>
            <a:ext cx="8766927" cy="1646302"/>
          </a:xfrm>
        </p:spPr>
        <p:txBody>
          <a:bodyPr/>
          <a:lstStyle/>
          <a:p>
            <a:r>
              <a:rPr lang="en-US" sz="4000" dirty="0"/>
              <a:t>Global Electric Vehicle Sales Analysis (2010 – 2023)</a:t>
            </a:r>
            <a:endParaRPr lang="en-IN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A4AF2A-D2BE-C584-F4F8-6BED5274A2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527007"/>
          </a:xfrm>
        </p:spPr>
        <p:txBody>
          <a:bodyPr>
            <a:normAutofit/>
          </a:bodyPr>
          <a:lstStyle/>
          <a:p>
            <a:r>
              <a:rPr lang="en-US" dirty="0"/>
              <a:t>Using Microsoft Excel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34526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E7723-C57E-7829-1D4C-0224FB2B6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9D99B-26C9-E23B-4B58-9B0EE160A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Electric vehicles are becoming an important part of the global transition toward sustainable transportation.</a:t>
            </a:r>
          </a:p>
          <a:p>
            <a:r>
              <a:rPr lang="en-US" dirty="0"/>
              <a:t>In this project, I analyzed global EV sales data to understand:</a:t>
            </a:r>
          </a:p>
          <a:p>
            <a:pPr lvl="1"/>
            <a:r>
              <a:rPr lang="en-US" dirty="0"/>
              <a:t>Growth of EV adoption over time</a:t>
            </a:r>
          </a:p>
          <a:p>
            <a:pPr lvl="1"/>
            <a:r>
              <a:rPr lang="en-US" dirty="0"/>
              <a:t>Leading countries in EV sales</a:t>
            </a:r>
          </a:p>
          <a:p>
            <a:pPr lvl="1"/>
            <a:r>
              <a:rPr lang="en-US" dirty="0"/>
              <a:t>Distribution of EV technologies </a:t>
            </a:r>
          </a:p>
          <a:p>
            <a:pPr lvl="1"/>
            <a:r>
              <a:rPr lang="en-US" dirty="0"/>
              <a:t>EV adoption across vehicle types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Using Microsoft Excel, I created an interactive dashboard that visualizes EV market trends from 2010 to 2023.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5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96DF4-8343-3656-9A18-4D68AE290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C17A6-98E4-DD09-F756-09848E963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global automotive is rapidly transitioning toward electric mobility, but understanding how EV adoption is evolving across regions and technologies requires proper data analysis.</a:t>
            </a:r>
          </a:p>
          <a:p>
            <a:r>
              <a:rPr lang="en-US" dirty="0"/>
              <a:t>The key challenge is to:</a:t>
            </a:r>
          </a:p>
          <a:p>
            <a:pPr lvl="1"/>
            <a:r>
              <a:rPr lang="en-US" dirty="0"/>
              <a:t>Identify leading EV markets</a:t>
            </a:r>
          </a:p>
          <a:p>
            <a:pPr lvl="1"/>
            <a:r>
              <a:rPr lang="en-US" dirty="0"/>
              <a:t>Analyze EV growth trends</a:t>
            </a:r>
          </a:p>
          <a:p>
            <a:pPr lvl="1"/>
            <a:r>
              <a:rPr lang="en-US" dirty="0"/>
              <a:t>Understand which technologies dominate the EV market</a:t>
            </a:r>
          </a:p>
          <a:p>
            <a:pPr lvl="1"/>
            <a:r>
              <a:rPr lang="en-US" dirty="0"/>
              <a:t>Explore how EV adoption varies across vehicle types</a:t>
            </a:r>
          </a:p>
          <a:p>
            <a:pPr marL="457200" lvl="1" indent="0">
              <a:buNone/>
            </a:pPr>
            <a:endParaRPr lang="en-IN" dirty="0"/>
          </a:p>
          <a:p>
            <a:r>
              <a:rPr lang="en-IN" dirty="0"/>
              <a:t>This project aims to answer these questions through data analysis and visualization.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6279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B5BAD-F2C8-505C-5095-D0C4F92F4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Objectives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0146F-573A-ABFD-AC9E-2A0BE8CBB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Analyze global EV sales trends from 2010 to 2023</a:t>
            </a:r>
          </a:p>
          <a:p>
            <a:r>
              <a:rPr lang="en-US" dirty="0"/>
              <a:t>Identify the top EV markets globally</a:t>
            </a:r>
          </a:p>
          <a:p>
            <a:r>
              <a:rPr lang="en-US" dirty="0"/>
              <a:t>Understand the distribution of EV powertrain technologies</a:t>
            </a:r>
          </a:p>
          <a:p>
            <a:r>
              <a:rPr lang="en-US" dirty="0"/>
              <a:t>Explore EV sales across different vehicle types</a:t>
            </a:r>
          </a:p>
          <a:p>
            <a:r>
              <a:rPr lang="en-US" dirty="0"/>
              <a:t>Build an interactive Excel dashboard to visualize insights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7627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2F292-3F83-DFD9-60D0-D8D2075CD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Description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FD503-2048-2C33-B395-102CF6382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038166" cy="3880773"/>
          </a:xfrm>
        </p:spPr>
        <p:txBody>
          <a:bodyPr>
            <a:normAutofit/>
          </a:bodyPr>
          <a:lstStyle/>
          <a:p>
            <a:r>
              <a:rPr lang="en-US" dirty="0"/>
              <a:t>The dataset used in this project contains global EV market statistics including:</a:t>
            </a:r>
          </a:p>
          <a:p>
            <a:pPr lvl="1"/>
            <a:r>
              <a:rPr lang="en-US" dirty="0"/>
              <a:t>EV sales</a:t>
            </a:r>
          </a:p>
          <a:p>
            <a:pPr lvl="1"/>
            <a:r>
              <a:rPr lang="en-US" dirty="0"/>
              <a:t>EV stock</a:t>
            </a:r>
          </a:p>
          <a:p>
            <a:pPr lvl="1"/>
            <a:r>
              <a:rPr lang="en-US" dirty="0"/>
              <a:t>EV sales share</a:t>
            </a:r>
          </a:p>
          <a:p>
            <a:pPr lvl="1"/>
            <a:r>
              <a:rPr lang="en-US" dirty="0"/>
              <a:t>Powertrain types (BEV, PHEV)</a:t>
            </a:r>
          </a:p>
          <a:p>
            <a:pPr lvl="1"/>
            <a:r>
              <a:rPr lang="en-US" dirty="0"/>
              <a:t>Vehicle types (cars, buses, trucks, vans)</a:t>
            </a:r>
          </a:p>
          <a:p>
            <a:pPr lvl="1"/>
            <a:r>
              <a:rPr lang="en-US" dirty="0"/>
              <a:t>Region and country data</a:t>
            </a:r>
          </a:p>
          <a:p>
            <a:pPr lvl="1"/>
            <a:r>
              <a:rPr lang="en-US" dirty="0"/>
              <a:t>Yearly EV market information</a:t>
            </a:r>
          </a:p>
          <a:p>
            <a:r>
              <a:rPr lang="en-US" dirty="0"/>
              <a:t>The dataset contains 12,654 records across multiple countries and years.</a:t>
            </a:r>
          </a:p>
          <a:p>
            <a:r>
              <a:rPr lang="en-US" dirty="0"/>
              <a:t>Source: Kaggle (Global EV Data based on International Energy Agency Statistics)</a:t>
            </a:r>
          </a:p>
        </p:txBody>
      </p:sp>
    </p:spTree>
    <p:extLst>
      <p:ext uri="{BB962C8B-B14F-4D97-AF65-F5344CB8AC3E}">
        <p14:creationId xmlns:p14="http://schemas.microsoft.com/office/powerpoint/2010/main" val="2586760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2A1FD-3933-0393-B947-B99ACF6DC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Cleaning &amp; Preparation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2F8E4-0243-CAFD-BF33-1E545FDB8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Before analysis, the dataset required several preprocessing steps:</a:t>
            </a:r>
          </a:p>
          <a:p>
            <a:pPr lvl="1"/>
            <a:r>
              <a:rPr lang="en-US" dirty="0"/>
              <a:t>Filtered relevant parameters such as EV sales, EV stock, and EV sales share</a:t>
            </a:r>
          </a:p>
          <a:p>
            <a:pPr lvl="1"/>
            <a:r>
              <a:rPr lang="en-US" dirty="0"/>
              <a:t>Removed future forecast years (2025, 2030, 2035) to focus on historical data</a:t>
            </a:r>
          </a:p>
          <a:p>
            <a:pPr lvl="1"/>
            <a:r>
              <a:rPr lang="en-US" dirty="0"/>
              <a:t>Verified numerical values and ensured consistent data formatting</a:t>
            </a:r>
          </a:p>
          <a:p>
            <a:pPr lvl="1"/>
            <a:r>
              <a:rPr lang="en-US" dirty="0"/>
              <a:t>Structured the dataset to support Pivot Table analysis</a:t>
            </a:r>
          </a:p>
          <a:p>
            <a:pPr lvl="1"/>
            <a:endParaRPr lang="en-US" dirty="0"/>
          </a:p>
          <a:p>
            <a:r>
              <a:rPr lang="en-US" dirty="0"/>
              <a:t>These steps ensured the dataset was clean and ready for analysis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7429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4FAFB-E38C-BA9D-7C01-F12EEDE48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Tools &amp; Techniques Used	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CA1C-186F-D134-C159-BEDADEFCC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project was completed using Microsoft Excel</a:t>
            </a:r>
          </a:p>
          <a:p>
            <a:r>
              <a:rPr lang="en-US" dirty="0"/>
              <a:t>Key features used include:</a:t>
            </a:r>
          </a:p>
          <a:p>
            <a:pPr lvl="1"/>
            <a:r>
              <a:rPr lang="en-US" dirty="0"/>
              <a:t>Data Cleaning &amp; Preparation</a:t>
            </a:r>
          </a:p>
          <a:p>
            <a:pPr lvl="1"/>
            <a:r>
              <a:rPr lang="en-US" dirty="0"/>
              <a:t>Pivot Tables</a:t>
            </a:r>
            <a:r>
              <a:rPr lang="en-IN" dirty="0"/>
              <a:t> &amp; Charts</a:t>
            </a:r>
          </a:p>
          <a:p>
            <a:pPr lvl="1"/>
            <a:r>
              <a:rPr lang="en-IN" dirty="0"/>
              <a:t>KPI Calculations</a:t>
            </a:r>
          </a:p>
          <a:p>
            <a:pPr lvl="1"/>
            <a:r>
              <a:rPr lang="en-IN" dirty="0"/>
              <a:t>Donut Chart</a:t>
            </a:r>
          </a:p>
          <a:p>
            <a:pPr lvl="1"/>
            <a:r>
              <a:rPr lang="en-IN" dirty="0"/>
              <a:t>Line Charts for trend analysis</a:t>
            </a:r>
          </a:p>
          <a:p>
            <a:pPr lvl="1"/>
            <a:r>
              <a:rPr lang="en-IN" dirty="0"/>
              <a:t>Bar Charts for comparison</a:t>
            </a:r>
          </a:p>
          <a:p>
            <a:pPr lvl="1"/>
            <a:r>
              <a:rPr lang="en-IN" dirty="0"/>
              <a:t>TreeMap visualization</a:t>
            </a:r>
          </a:p>
          <a:p>
            <a:pPr lvl="1"/>
            <a:r>
              <a:rPr lang="en-IN" dirty="0"/>
              <a:t>Interactive slicers for filtering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035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A6A2F-9AC0-7E89-8D5C-60AED8DF3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Performance Indicators (KPIs)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32B5C-911D-179C-787B-F7C507B9A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Total EV Sales (2010 – 2023): $ 247.1 Million</a:t>
            </a:r>
          </a:p>
          <a:p>
            <a:r>
              <a:rPr lang="en-US" dirty="0"/>
              <a:t>Total EV Stock: 127.3 Million Evs</a:t>
            </a:r>
          </a:p>
          <a:p>
            <a:r>
              <a:rPr lang="en-US" dirty="0"/>
              <a:t>Largest EV Market: China</a:t>
            </a:r>
          </a:p>
          <a:p>
            <a:r>
              <a:rPr lang="en-US" dirty="0"/>
              <a:t>Number of Regions Analyzed: 50 </a:t>
            </a:r>
          </a:p>
          <a:p>
            <a:r>
              <a:rPr lang="en-US" dirty="0"/>
              <a:t>EV Sales in 2023: $ 92 Million</a:t>
            </a:r>
          </a:p>
          <a:p>
            <a:endParaRPr lang="en-US" dirty="0"/>
          </a:p>
          <a:p>
            <a:r>
              <a:rPr lang="en-US" dirty="0"/>
              <a:t>These KPIs provide a quick summary of the global EV market.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1330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C8DDD-BA76-0BC4-35ED-ACB304662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Overview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89705-BF76-96E6-7652-87535E683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dashboard visualizes multiple aspects of the EV market including:</a:t>
            </a:r>
          </a:p>
          <a:p>
            <a:pPr lvl="1"/>
            <a:r>
              <a:rPr lang="en-US" dirty="0"/>
              <a:t>Global EV sales trend over time</a:t>
            </a:r>
          </a:p>
          <a:p>
            <a:pPr lvl="1"/>
            <a:r>
              <a:rPr lang="en-US" dirty="0"/>
              <a:t>Top EV markets by total sales</a:t>
            </a:r>
          </a:p>
          <a:p>
            <a:pPr lvl="1"/>
            <a:r>
              <a:rPr lang="en-US" dirty="0"/>
              <a:t>EV market share growth</a:t>
            </a:r>
          </a:p>
          <a:p>
            <a:pPr lvl="1"/>
            <a:r>
              <a:rPr lang="en-US" dirty="0"/>
              <a:t>Distribution of EV powertrain technologies</a:t>
            </a:r>
          </a:p>
          <a:p>
            <a:pPr lvl="1"/>
            <a:r>
              <a:rPr lang="en-US" dirty="0"/>
              <a:t>EV sales by vehicle type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Interactive slicers allow users to filter the dashboard by year and region.</a:t>
            </a:r>
          </a:p>
        </p:txBody>
      </p:sp>
    </p:spTree>
    <p:extLst>
      <p:ext uri="{BB962C8B-B14F-4D97-AF65-F5344CB8AC3E}">
        <p14:creationId xmlns:p14="http://schemas.microsoft.com/office/powerpoint/2010/main" val="106053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99DE6B-5820-1082-9090-8813D10F3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EV Sales Trend</a:t>
            </a:r>
            <a:endParaRPr lang="en-IN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6158FC1-C415-FD7D-7505-DEF09FEED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dashboard shows that global EV sales have grown dramatically since 2010</a:t>
            </a:r>
          </a:p>
          <a:p>
            <a:r>
              <a:rPr lang="en-US" dirty="0"/>
              <a:t>Key Observations:</a:t>
            </a:r>
          </a:p>
          <a:p>
            <a:pPr lvl="1"/>
            <a:r>
              <a:rPr lang="en-US" dirty="0"/>
              <a:t>EV sales were almost negligible in early years</a:t>
            </a:r>
          </a:p>
          <a:p>
            <a:pPr lvl="1"/>
            <a:r>
              <a:rPr lang="en-US" dirty="0"/>
              <a:t>Growth accelerated significantly after 2019</a:t>
            </a:r>
          </a:p>
          <a:p>
            <a:pPr lvl="1"/>
            <a:r>
              <a:rPr lang="en-US" dirty="0"/>
              <a:t>EV sales reached approximately $ 92 million in 2023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This indicates strong global adoption of electric vehicles.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5734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E507A-57B8-A81E-9B45-E71D0D9A7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EV Markets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E061D-F1D6-C923-C15B-C00DAAC77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analysis shows the countries with the highest EV sales.</a:t>
            </a:r>
          </a:p>
          <a:p>
            <a:r>
              <a:rPr lang="en-US" dirty="0"/>
              <a:t>Key findings:</a:t>
            </a:r>
          </a:p>
          <a:p>
            <a:pPr lvl="1"/>
            <a:r>
              <a:rPr lang="en-US" dirty="0"/>
              <a:t>China is the largest EV market globally</a:t>
            </a:r>
          </a:p>
          <a:p>
            <a:pPr lvl="1"/>
            <a:r>
              <a:rPr lang="en-US" dirty="0"/>
              <a:t>The United States is the second largest</a:t>
            </a:r>
          </a:p>
          <a:p>
            <a:pPr lvl="1"/>
            <a:r>
              <a:rPr lang="en-US" dirty="0"/>
              <a:t>Countries such as Germany, France, and Norway also show strong EV adoption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This highlights regional differences in EV adoption.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2027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0F511-6C62-B8E7-6BDD-7733FEC85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EV Market Share Trend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B3E86-049E-933E-31BA-70DA3FEFE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EV share of total car sales has increased steadily over time</a:t>
            </a:r>
          </a:p>
          <a:p>
            <a:r>
              <a:rPr lang="en-US" dirty="0"/>
              <a:t>Key insights:</a:t>
            </a:r>
          </a:p>
          <a:p>
            <a:pPr lvl="1"/>
            <a:r>
              <a:rPr lang="en-US" dirty="0"/>
              <a:t>EV market share was less than 1% before 2014</a:t>
            </a:r>
          </a:p>
          <a:p>
            <a:pPr lvl="1"/>
            <a:r>
              <a:rPr lang="en-US" dirty="0"/>
              <a:t>It grew steadily between 2015 and 2019</a:t>
            </a:r>
          </a:p>
          <a:p>
            <a:pPr lvl="1"/>
            <a:r>
              <a:rPr lang="en-US" dirty="0"/>
              <a:t>Rapid growth occurred after 2020</a:t>
            </a:r>
          </a:p>
          <a:p>
            <a:pPr lvl="1"/>
            <a:r>
              <a:rPr lang="en-US" dirty="0"/>
              <a:t>EV share reached around 13.4% in 2023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This reflects accelerating global electrification.</a:t>
            </a:r>
          </a:p>
        </p:txBody>
      </p:sp>
    </p:spTree>
    <p:extLst>
      <p:ext uri="{BB962C8B-B14F-4D97-AF65-F5344CB8AC3E}">
        <p14:creationId xmlns:p14="http://schemas.microsoft.com/office/powerpoint/2010/main" val="32842767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C23BD-252B-3AB5-DC5B-E8096F37E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 Powertrain Distribution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64037-556C-D6B2-2312-584A2E288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Evs mainly consist of two technologies:</a:t>
            </a:r>
          </a:p>
          <a:p>
            <a:pPr lvl="1"/>
            <a:r>
              <a:rPr lang="en-US" dirty="0"/>
              <a:t>Battery Electric Vehicles (BEV)</a:t>
            </a:r>
          </a:p>
          <a:p>
            <a:pPr lvl="1"/>
            <a:r>
              <a:rPr lang="en-US" dirty="0"/>
              <a:t>Plug-in Hybrid Electric Vehicles (PHEV)</a:t>
            </a:r>
          </a:p>
          <a:p>
            <a:pPr lvl="1"/>
            <a:endParaRPr lang="en-US" dirty="0"/>
          </a:p>
          <a:p>
            <a:r>
              <a:rPr lang="en-US" dirty="0"/>
              <a:t>From the analysis:</a:t>
            </a:r>
          </a:p>
          <a:p>
            <a:pPr lvl="1"/>
            <a:r>
              <a:rPr lang="en-US" dirty="0"/>
              <a:t>BEVs dominate the EV market</a:t>
            </a:r>
          </a:p>
          <a:p>
            <a:pPr lvl="1"/>
            <a:r>
              <a:rPr lang="en-US" dirty="0"/>
              <a:t>PHEVs represent a smaller portion of total EV sales</a:t>
            </a:r>
          </a:p>
          <a:p>
            <a:pPr lvl="1"/>
            <a:endParaRPr lang="en-IN" dirty="0"/>
          </a:p>
          <a:p>
            <a:r>
              <a:rPr lang="en-IN" dirty="0"/>
              <a:t>This suggests that the industry is increasingly shifting toward fully electric vehicles.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2837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D9195-DADE-3059-4151-42DEC92B2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 Sales by Vehicle Type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19785-40AB-3F0C-2CEA-E1CB1207E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analysis also show EV adoption across vehicle types:</a:t>
            </a:r>
          </a:p>
          <a:p>
            <a:pPr lvl="1"/>
            <a:r>
              <a:rPr lang="en-US" dirty="0"/>
              <a:t>Passenger cars dominate EV sales</a:t>
            </a:r>
          </a:p>
          <a:p>
            <a:pPr lvl="1"/>
            <a:r>
              <a:rPr lang="en-US" dirty="0"/>
              <a:t>Buses, trucks, and vans represent smaller shares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This indicates that EV adoption is currently strongest in passenger transportation.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1770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FE01A-B6D0-FDA5-EA1D-F83BE928F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Insights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FAE76-F8CE-8859-D621-038E2F0CD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the analysis, several key insights emerged:</a:t>
            </a:r>
          </a:p>
          <a:p>
            <a:pPr lvl="1"/>
            <a:r>
              <a:rPr lang="en-US" dirty="0"/>
              <a:t>Global EV adoption has accelerated rapidly after 2019</a:t>
            </a:r>
          </a:p>
          <a:p>
            <a:pPr lvl="1"/>
            <a:r>
              <a:rPr lang="en-US" dirty="0"/>
              <a:t>China dominates the global EV market </a:t>
            </a:r>
          </a:p>
          <a:p>
            <a:pPr lvl="1"/>
            <a:r>
              <a:rPr lang="en-US" dirty="0"/>
              <a:t>Battery Electric Vehicles are the most widely adopted technology</a:t>
            </a:r>
          </a:p>
          <a:p>
            <a:pPr lvl="1"/>
            <a:r>
              <a:rPr lang="en-US" dirty="0"/>
              <a:t>Passenger cars account for the majority of EV sales</a:t>
            </a:r>
          </a:p>
          <a:p>
            <a:pPr lvl="1"/>
            <a:r>
              <a:rPr lang="en-US" dirty="0"/>
              <a:t>EV market share continues to grow each year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19050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9EB82-5F2C-A11C-34A2-C63A7632B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this Dashboard is for ?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DCB34-E3D8-F07B-7BCC-550989984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dashboard can be useful for: </a:t>
            </a:r>
          </a:p>
          <a:p>
            <a:pPr lvl="1"/>
            <a:r>
              <a:rPr lang="en-US" dirty="0"/>
              <a:t>Automotive companies analyzing EV markets</a:t>
            </a:r>
          </a:p>
          <a:p>
            <a:pPr lvl="1"/>
            <a:r>
              <a:rPr lang="en-US" dirty="0"/>
              <a:t>Policy makers planning sustainable transport policies</a:t>
            </a:r>
          </a:p>
          <a:p>
            <a:pPr lvl="1"/>
            <a:r>
              <a:rPr lang="en-US" dirty="0"/>
              <a:t>Investors studying EV market growth</a:t>
            </a:r>
          </a:p>
          <a:p>
            <a:pPr lvl="1"/>
            <a:r>
              <a:rPr lang="en-US" dirty="0"/>
              <a:t>Market analysts researching electric mobility trends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07073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BD81E-51E2-1FD1-4B05-FCB1D9C9D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Impact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EFAE4D-8998-3806-06FE-64587996C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dashboard enables stakeholders to:</a:t>
            </a:r>
          </a:p>
          <a:p>
            <a:pPr lvl="1"/>
            <a:r>
              <a:rPr lang="en-US" dirty="0"/>
              <a:t>Understand global EV market trends</a:t>
            </a:r>
          </a:p>
          <a:p>
            <a:pPr lvl="1"/>
            <a:r>
              <a:rPr lang="en-US" dirty="0"/>
              <a:t>Identify leading EV markets</a:t>
            </a:r>
          </a:p>
          <a:p>
            <a:pPr lvl="1"/>
            <a:r>
              <a:rPr lang="en-US" dirty="0"/>
              <a:t>Analyze technology adoption patterns</a:t>
            </a:r>
          </a:p>
          <a:p>
            <a:pPr lvl="1"/>
            <a:r>
              <a:rPr lang="en-US" dirty="0"/>
              <a:t>Explore EV adoption across vehicle types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These insights can support data-driven decisions in the automotive and energy sectors.</a:t>
            </a:r>
          </a:p>
          <a:p>
            <a:pPr lvl="1"/>
            <a:endParaRPr lang="en-I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53311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F7DF3-A5A6-E930-A00D-AD6C7FE94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24A77C-BE85-098E-3257-865A82FE9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limitations of this project include:</a:t>
            </a:r>
          </a:p>
          <a:p>
            <a:pPr lvl="1"/>
            <a:r>
              <a:rPr lang="en-US" dirty="0"/>
              <a:t>Limited historical data before 2010</a:t>
            </a:r>
          </a:p>
          <a:p>
            <a:pPr lvl="1"/>
            <a:r>
              <a:rPr lang="en-US" dirty="0"/>
              <a:t>Some forecast values in the dataset</a:t>
            </a:r>
          </a:p>
          <a:p>
            <a:pPr lvl="1"/>
            <a:r>
              <a:rPr lang="en-US" dirty="0"/>
              <a:t>Charging infrastructure data was not included</a:t>
            </a:r>
          </a:p>
          <a:p>
            <a:pPr lvl="1"/>
            <a:r>
              <a:rPr lang="en-US" dirty="0"/>
              <a:t>Market share calculations depend on available global car sales data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85903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606E-2261-A3D2-6094-850C5060D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Improvements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F4D5F-6DCC-95DE-D1C3-897AB751BC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 improvements include:</a:t>
            </a:r>
          </a:p>
          <a:p>
            <a:pPr lvl="1"/>
            <a:r>
              <a:rPr lang="en-US" dirty="0"/>
              <a:t>Adding EV sales forecasting models</a:t>
            </a:r>
          </a:p>
          <a:p>
            <a:pPr lvl="1"/>
            <a:r>
              <a:rPr lang="en-US" dirty="0"/>
              <a:t>Integrating EV charging infrastructure data</a:t>
            </a:r>
          </a:p>
          <a:p>
            <a:pPr lvl="1"/>
            <a:r>
              <a:rPr lang="en-US" dirty="0"/>
              <a:t>Creating a more advanced dashboard using PowerBI</a:t>
            </a:r>
          </a:p>
          <a:p>
            <a:pPr lvl="1"/>
            <a:r>
              <a:rPr lang="en-US" dirty="0"/>
              <a:t>Adding country-level trend comparisons</a:t>
            </a:r>
          </a:p>
        </p:txBody>
      </p:sp>
    </p:spTree>
    <p:extLst>
      <p:ext uri="{BB962C8B-B14F-4D97-AF65-F5344CB8AC3E}">
        <p14:creationId xmlns:p14="http://schemas.microsoft.com/office/powerpoint/2010/main" val="5190889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B8751-00F6-DBC7-8C77-C26687642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31087-B22A-3776-5A5D-1E74246BB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project demonstrates how Excel can be used to analyze real-world datasets and build interactive dashboards.</a:t>
            </a:r>
          </a:p>
          <a:p>
            <a:r>
              <a:rPr lang="en-US" dirty="0"/>
              <a:t>Through this analysis, we explored global EV adoption trends and identified key patterns in EV sales, market share, and technology adoption.</a:t>
            </a:r>
          </a:p>
          <a:p>
            <a:r>
              <a:rPr lang="en-US" dirty="0"/>
              <a:t>The project highlights the importance of data-driven insights for understanding the future of electric mobility.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7273155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71</TotalTime>
  <Words>988</Words>
  <Application>Microsoft Office PowerPoint</Application>
  <PresentationFormat>Widescreen</PresentationFormat>
  <Paragraphs>151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Trebuchet MS</vt:lpstr>
      <vt:lpstr>Wingdings 3</vt:lpstr>
      <vt:lpstr>Facet</vt:lpstr>
      <vt:lpstr>Global Electric Vehicle Sales Analysis (2010 – 2023)</vt:lpstr>
      <vt:lpstr>Project Overview</vt:lpstr>
      <vt:lpstr>Problem Statement</vt:lpstr>
      <vt:lpstr>Project Objectives</vt:lpstr>
      <vt:lpstr>Dataset Description</vt:lpstr>
      <vt:lpstr>Data Cleaning &amp; Preparation</vt:lpstr>
      <vt:lpstr>Tools &amp; Techniques Used </vt:lpstr>
      <vt:lpstr>Key Performance Indicators (KPIs)</vt:lpstr>
      <vt:lpstr>Dashboard Overview</vt:lpstr>
      <vt:lpstr>Global EV Sales Trend</vt:lpstr>
      <vt:lpstr>Top EV Markets</vt:lpstr>
      <vt:lpstr>Global EV Market Share Trend</vt:lpstr>
      <vt:lpstr>EV Powertrain Distribution</vt:lpstr>
      <vt:lpstr>EV Sales by Vehicle Type</vt:lpstr>
      <vt:lpstr>Key Insights</vt:lpstr>
      <vt:lpstr>Who this Dashboard is for ? </vt:lpstr>
      <vt:lpstr>Business Impact</vt:lpstr>
      <vt:lpstr>Limitations</vt:lpstr>
      <vt:lpstr>Future Improvements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Bhavesh Lambar</dc:creator>
  <cp:lastModifiedBy>Bhavesh Lambar</cp:lastModifiedBy>
  <cp:revision>1</cp:revision>
  <dcterms:created xsi:type="dcterms:W3CDTF">2026-03-16T14:11:05Z</dcterms:created>
  <dcterms:modified xsi:type="dcterms:W3CDTF">2026-03-16T15:22:17Z</dcterms:modified>
</cp:coreProperties>
</file>